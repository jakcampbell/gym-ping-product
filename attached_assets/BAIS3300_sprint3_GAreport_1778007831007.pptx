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2"/>
    <p:sldId id="258" r:id="rId3"/>
    <p:sldId id="264" r:id="rId4"/>
    <p:sldId id="259" r:id="rId5"/>
    <p:sldId id="263" r:id="rId6"/>
    <p:sldId id="262" r:id="rId7"/>
    <p:sldId id="257"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A94BEF-88B1-4D32-910B-04833F193433}" v="26" dt="2023-05-04T13:31:00.8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880" autoAdjust="0"/>
    <p:restoredTop sz="89114"/>
  </p:normalViewPr>
  <p:slideViewPr>
    <p:cSldViewPr snapToGrid="0">
      <p:cViewPr varScale="1">
        <p:scale>
          <a:sx n="122" d="100"/>
          <a:sy n="122" d="100"/>
        </p:scale>
        <p:origin x="46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FDDB7D-E7C0-5746-A30D-8C7A061FBEF4}" type="datetimeFigureOut">
              <a:rPr lang="en-US" smtClean="0"/>
              <a:t>4/28/26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195694-C5A7-724C-BF22-C2052AE57F33}" type="slidenum">
              <a:rPr lang="en-US" smtClean="0"/>
              <a:t>‹#›</a:t>
            </a:fld>
            <a:endParaRPr lang="en-US"/>
          </a:p>
        </p:txBody>
      </p:sp>
    </p:spTree>
    <p:extLst>
      <p:ext uri="{BB962C8B-B14F-4D97-AF65-F5344CB8AC3E}">
        <p14:creationId xmlns:p14="http://schemas.microsoft.com/office/powerpoint/2010/main" val="3712916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reports menu </a:t>
            </a:r>
            <a:r>
              <a:rPr lang="en-US" dirty="0">
                <a:sym typeface="Wingdings" pitchFamily="2" charset="2"/>
              </a:rPr>
              <a:t> Lifecycle  Acquisition  Traffic acquisition  set to </a:t>
            </a:r>
            <a:r>
              <a:rPr lang="en-US" b="1" i="1" dirty="0">
                <a:sym typeface="Wingdings" pitchFamily="2" charset="2"/>
              </a:rPr>
              <a:t>Session source / medium</a:t>
            </a:r>
          </a:p>
          <a:p>
            <a:endParaRPr lang="en-US" b="0" i="0" dirty="0">
              <a:sym typeface="Wingdings" pitchFamily="2" charset="2"/>
            </a:endParaRPr>
          </a:p>
          <a:p>
            <a:r>
              <a:rPr lang="en-US" b="0" i="0" dirty="0">
                <a:sym typeface="Wingdings" pitchFamily="2" charset="2"/>
              </a:rPr>
              <a:t>Make sure I can see your domain name.</a:t>
            </a:r>
            <a:endParaRPr lang="en-US" b="0" i="0" dirty="0"/>
          </a:p>
        </p:txBody>
      </p:sp>
      <p:sp>
        <p:nvSpPr>
          <p:cNvPr id="4" name="Slide Number Placeholder 3"/>
          <p:cNvSpPr>
            <a:spLocks noGrp="1"/>
          </p:cNvSpPr>
          <p:nvPr>
            <p:ph type="sldNum" sz="quarter" idx="5"/>
          </p:nvPr>
        </p:nvSpPr>
        <p:spPr/>
        <p:txBody>
          <a:bodyPr/>
          <a:lstStyle/>
          <a:p>
            <a:fld id="{0F195694-C5A7-724C-BF22-C2052AE57F33}" type="slidenum">
              <a:rPr lang="en-US" smtClean="0"/>
              <a:t>7</a:t>
            </a:fld>
            <a:endParaRPr lang="en-US"/>
          </a:p>
        </p:txBody>
      </p:sp>
    </p:spTree>
    <p:extLst>
      <p:ext uri="{BB962C8B-B14F-4D97-AF65-F5344CB8AC3E}">
        <p14:creationId xmlns:p14="http://schemas.microsoft.com/office/powerpoint/2010/main" val="23262175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4/28/26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4/28/26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4/28/26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4/28/26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ea typeface="Calibri Light"/>
                <a:cs typeface="Calibri Light"/>
              </a:rPr>
              <a:t>Google Analytics report</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r>
              <a:rPr lang="en-US" dirty="0">
                <a:ea typeface="Calibri"/>
                <a:cs typeface="Calibri"/>
              </a:rPr>
              <a:t>BAIS:3300 – Digital Product Management</a:t>
            </a:r>
          </a:p>
          <a:p>
            <a:r>
              <a:rPr lang="en-US" dirty="0">
                <a:ea typeface="Calibri"/>
                <a:cs typeface="Calibri"/>
              </a:rPr>
              <a:t>Sprint 3</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1BA75-1327-7B06-5B7B-57304D988AA4}"/>
              </a:ext>
            </a:extLst>
          </p:cNvPr>
          <p:cNvSpPr>
            <a:spLocks noGrp="1"/>
          </p:cNvSpPr>
          <p:nvPr>
            <p:ph type="title"/>
          </p:nvPr>
        </p:nvSpPr>
        <p:spPr>
          <a:xfrm>
            <a:off x="838200" y="0"/>
            <a:ext cx="10515600" cy="1325563"/>
          </a:xfrm>
        </p:spPr>
        <p:txBody>
          <a:bodyPr/>
          <a:lstStyle/>
          <a:p>
            <a:r>
              <a:rPr lang="en-US" dirty="0"/>
              <a:t>Summary</a:t>
            </a:r>
          </a:p>
        </p:txBody>
      </p:sp>
      <p:sp>
        <p:nvSpPr>
          <p:cNvPr id="3" name="Content Placeholder 2">
            <a:extLst>
              <a:ext uri="{FF2B5EF4-FFF2-40B4-BE49-F238E27FC236}">
                <a16:creationId xmlns:a16="http://schemas.microsoft.com/office/drawing/2014/main" id="{61FF73E8-30D9-0985-541D-EE2F38B70B75}"/>
              </a:ext>
            </a:extLst>
          </p:cNvPr>
          <p:cNvSpPr>
            <a:spLocks noGrp="1"/>
          </p:cNvSpPr>
          <p:nvPr>
            <p:ph idx="1"/>
          </p:nvPr>
        </p:nvSpPr>
        <p:spPr>
          <a:xfrm>
            <a:off x="838200" y="1364343"/>
            <a:ext cx="10515600" cy="5268686"/>
          </a:xfrm>
        </p:spPr>
        <p:txBody>
          <a:bodyPr>
            <a:normAutofit fontScale="92500" lnSpcReduction="10000"/>
          </a:bodyPr>
          <a:lstStyle/>
          <a:p>
            <a:r>
              <a:rPr lang="en-US" dirty="0"/>
              <a:t>I had 156 new users come to my site between April 4 – May 4, 2023</a:t>
            </a:r>
          </a:p>
          <a:p>
            <a:pPr lvl="1"/>
            <a:r>
              <a:rPr lang="en-US" dirty="0"/>
              <a:t>37 of these visitors came back at least one more time.</a:t>
            </a:r>
          </a:p>
          <a:p>
            <a:endParaRPr lang="en-US" dirty="0"/>
          </a:p>
          <a:p>
            <a:r>
              <a:rPr lang="en-US" dirty="0"/>
              <a:t>Nearly all users visited by domain name (</a:t>
            </a:r>
            <a:r>
              <a:rPr lang="en-US" dirty="0" err="1"/>
              <a:t>businessanalytics.me</a:t>
            </a:r>
            <a:r>
              <a:rPr lang="en-US" dirty="0"/>
              <a:t>), not a specific page (like from a link). </a:t>
            </a:r>
          </a:p>
          <a:p>
            <a:endParaRPr lang="en-US" dirty="0"/>
          </a:p>
          <a:p>
            <a:r>
              <a:rPr lang="en-US" dirty="0"/>
              <a:t>Most visitors came from Iowa City and West Branch which makes sense in my context. I’ve lived in West Branch and Iowa City for the past 15 years and my campaigns were targeted to family and friends.</a:t>
            </a:r>
          </a:p>
          <a:p>
            <a:endParaRPr lang="en-US" dirty="0"/>
          </a:p>
          <a:p>
            <a:r>
              <a:rPr lang="en-US" dirty="0"/>
              <a:t>I created two campaigns, one for Facebook posts and one for Twitter posts. </a:t>
            </a:r>
          </a:p>
          <a:p>
            <a:pPr lvl="1"/>
            <a:r>
              <a:rPr lang="en-US" dirty="0"/>
              <a:t>The Facebook campaign was most successful at driving traffic to my site.</a:t>
            </a:r>
          </a:p>
          <a:p>
            <a:pPr lvl="1"/>
            <a:r>
              <a:rPr lang="en-US" dirty="0"/>
              <a:t>Users who came from my website link on GitHub were on my site longer. </a:t>
            </a:r>
          </a:p>
        </p:txBody>
      </p:sp>
    </p:spTree>
    <p:extLst>
      <p:ext uri="{BB962C8B-B14F-4D97-AF65-F5344CB8AC3E}">
        <p14:creationId xmlns:p14="http://schemas.microsoft.com/office/powerpoint/2010/main" val="1003784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D911D-001D-E586-992E-BA8F4DDD0990}"/>
            </a:ext>
          </a:extLst>
        </p:cNvPr>
        <p:cNvGrpSpPr/>
        <p:nvPr/>
      </p:nvGrpSpPr>
      <p:grpSpPr>
        <a:xfrm>
          <a:off x="0" y="0"/>
          <a:ext cx="0" cy="0"/>
          <a:chOff x="0" y="0"/>
          <a:chExt cx="0" cy="0"/>
        </a:xfrm>
      </p:grpSpPr>
      <p:pic>
        <p:nvPicPr>
          <p:cNvPr id="14" name="Picture 13" descr="Screenshot of a Google Analytics dashboard showing lead generation data for portfolio_s25 from April 8 to May 5, 2023. Key details include 31 new users, 8 returning users, a line graph depicting user activity trends, and a pie chart indicating no available data for key events by platform.&#10;">
            <a:extLst>
              <a:ext uri="{FF2B5EF4-FFF2-40B4-BE49-F238E27FC236}">
                <a16:creationId xmlns:a16="http://schemas.microsoft.com/office/drawing/2014/main" id="{F9A86DEC-E593-9B9D-1EA0-1F5A00A5474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88979" y="2069161"/>
            <a:ext cx="11441655" cy="4225713"/>
          </a:xfrm>
          <a:prstGeom prst="rect">
            <a:avLst/>
          </a:prstGeom>
          <a:ln>
            <a:solidFill>
              <a:schemeClr val="accent1"/>
            </a:solidFill>
          </a:ln>
        </p:spPr>
      </p:pic>
      <p:sp>
        <p:nvSpPr>
          <p:cNvPr id="2" name="Title 1">
            <a:extLst>
              <a:ext uri="{FF2B5EF4-FFF2-40B4-BE49-F238E27FC236}">
                <a16:creationId xmlns:a16="http://schemas.microsoft.com/office/drawing/2014/main" id="{22092154-C21B-1136-9011-CD89A1CC5305}"/>
              </a:ext>
            </a:extLst>
          </p:cNvPr>
          <p:cNvSpPr>
            <a:spLocks noGrp="1"/>
          </p:cNvSpPr>
          <p:nvPr>
            <p:ph type="title"/>
          </p:nvPr>
        </p:nvSpPr>
        <p:spPr>
          <a:xfrm>
            <a:off x="838200" y="411394"/>
            <a:ext cx="10515600" cy="1325563"/>
          </a:xfrm>
        </p:spPr>
        <p:txBody>
          <a:bodyPr/>
          <a:lstStyle/>
          <a:p>
            <a:r>
              <a:rPr lang="en-US" dirty="0"/>
              <a:t>How many new visitors came to my site?</a:t>
            </a:r>
          </a:p>
        </p:txBody>
      </p:sp>
      <p:sp>
        <p:nvSpPr>
          <p:cNvPr id="3" name="TextBox 2">
            <a:extLst>
              <a:ext uri="{FF2B5EF4-FFF2-40B4-BE49-F238E27FC236}">
                <a16:creationId xmlns:a16="http://schemas.microsoft.com/office/drawing/2014/main" id="{D9329F74-49BD-D696-AE66-90569C738392}"/>
              </a:ext>
            </a:extLst>
          </p:cNvPr>
          <p:cNvSpPr txBox="1"/>
          <p:nvPr/>
        </p:nvSpPr>
        <p:spPr>
          <a:xfrm>
            <a:off x="3048000" y="1367625"/>
            <a:ext cx="3947427" cy="369332"/>
          </a:xfrm>
          <a:prstGeom prst="rect">
            <a:avLst/>
          </a:prstGeom>
          <a:noFill/>
        </p:spPr>
        <p:txBody>
          <a:bodyPr wrap="none" rtlCol="0">
            <a:spAutoFit/>
          </a:bodyPr>
          <a:lstStyle/>
          <a:p>
            <a:r>
              <a:rPr lang="en-US" i="1" dirty="0">
                <a:solidFill>
                  <a:srgbClr val="C00000"/>
                </a:solidFill>
              </a:rPr>
              <a:t>They have never been to my site before.</a:t>
            </a:r>
          </a:p>
        </p:txBody>
      </p:sp>
    </p:spTree>
    <p:extLst>
      <p:ext uri="{BB962C8B-B14F-4D97-AF65-F5344CB8AC3E}">
        <p14:creationId xmlns:p14="http://schemas.microsoft.com/office/powerpoint/2010/main" val="883476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D8934-051C-6DD5-29A6-4C051D453F0E}"/>
              </a:ext>
            </a:extLst>
          </p:cNvPr>
          <p:cNvSpPr>
            <a:spLocks noGrp="1"/>
          </p:cNvSpPr>
          <p:nvPr>
            <p:ph type="title"/>
          </p:nvPr>
        </p:nvSpPr>
        <p:spPr>
          <a:xfrm>
            <a:off x="838200" y="220133"/>
            <a:ext cx="10515600" cy="927506"/>
          </a:xfrm>
        </p:spPr>
        <p:txBody>
          <a:bodyPr/>
          <a:lstStyle/>
          <a:p>
            <a:r>
              <a:rPr lang="en-US" dirty="0"/>
              <a:t>How many of my visitors returned to my site?</a:t>
            </a:r>
          </a:p>
        </p:txBody>
      </p:sp>
      <p:pic>
        <p:nvPicPr>
          <p:cNvPr id="5" name="Content Placeholder 4" descr="Screenshot of a digital analytics dashboard showing lead generation data for portfolio_s25 from April 8 to May 5, 2023. Key details include 31 new users, 8 returning users, a line graph of user activity over time, and sections for platform key events and user acquisition channels with direct, organic social, and referral sources.&#10;">
            <a:extLst>
              <a:ext uri="{FF2B5EF4-FFF2-40B4-BE49-F238E27FC236}">
                <a16:creationId xmlns:a16="http://schemas.microsoft.com/office/drawing/2014/main" id="{32861B37-D346-ECBB-FF0A-9ED2F706AD8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61913" y="1444979"/>
            <a:ext cx="11868174" cy="5192888"/>
          </a:xfrm>
          <a:ln>
            <a:solidFill>
              <a:schemeClr val="accent1"/>
            </a:solidFill>
          </a:ln>
        </p:spPr>
      </p:pic>
      <p:sp>
        <p:nvSpPr>
          <p:cNvPr id="10" name="TextBox 9">
            <a:extLst>
              <a:ext uri="{FF2B5EF4-FFF2-40B4-BE49-F238E27FC236}">
                <a16:creationId xmlns:a16="http://schemas.microsoft.com/office/drawing/2014/main" id="{98751F83-CEA2-0358-6CB9-DA1B7A5343F1}"/>
              </a:ext>
            </a:extLst>
          </p:cNvPr>
          <p:cNvSpPr txBox="1"/>
          <p:nvPr/>
        </p:nvSpPr>
        <p:spPr>
          <a:xfrm>
            <a:off x="3604591" y="1046923"/>
            <a:ext cx="3215047" cy="369332"/>
          </a:xfrm>
          <a:prstGeom prst="rect">
            <a:avLst/>
          </a:prstGeom>
          <a:noFill/>
        </p:spPr>
        <p:txBody>
          <a:bodyPr wrap="none" rtlCol="0">
            <a:spAutoFit/>
          </a:bodyPr>
          <a:lstStyle/>
          <a:p>
            <a:r>
              <a:rPr lang="en-US" i="1" dirty="0">
                <a:solidFill>
                  <a:srgbClr val="C00000"/>
                </a:solidFill>
              </a:rPr>
              <a:t>They have visited my site before.</a:t>
            </a:r>
          </a:p>
        </p:txBody>
      </p:sp>
    </p:spTree>
    <p:extLst>
      <p:ext uri="{BB962C8B-B14F-4D97-AF65-F5344CB8AC3E}">
        <p14:creationId xmlns:p14="http://schemas.microsoft.com/office/powerpoint/2010/main" val="1399043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Screenshot of a web analytics dashboard showing page path and screen class data for a specified date range from April 8 to May 5, 2023. The line graph displays views over time with a notable peak around mid-April, while the table below lists metrics such as views, active users, average engagement time, and event count for the home page, highlighted by red annotations and menu navigation on the left.">
            <a:extLst>
              <a:ext uri="{FF2B5EF4-FFF2-40B4-BE49-F238E27FC236}">
                <a16:creationId xmlns:a16="http://schemas.microsoft.com/office/drawing/2014/main" id="{EDA89020-A46A-DA45-6628-54A5BAE0DE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59347" y="1690688"/>
            <a:ext cx="11673306" cy="4776000"/>
          </a:xfrm>
          <a:prstGeom prst="rect">
            <a:avLst/>
          </a:prstGeom>
        </p:spPr>
      </p:pic>
      <p:sp>
        <p:nvSpPr>
          <p:cNvPr id="2" name="Title 1">
            <a:extLst>
              <a:ext uri="{FF2B5EF4-FFF2-40B4-BE49-F238E27FC236}">
                <a16:creationId xmlns:a16="http://schemas.microsoft.com/office/drawing/2014/main" id="{A8772EA4-1535-536C-DB42-9AD4A62916B5}"/>
              </a:ext>
            </a:extLst>
          </p:cNvPr>
          <p:cNvSpPr>
            <a:spLocks noGrp="1"/>
          </p:cNvSpPr>
          <p:nvPr>
            <p:ph type="title"/>
          </p:nvPr>
        </p:nvSpPr>
        <p:spPr/>
        <p:txBody>
          <a:bodyPr/>
          <a:lstStyle/>
          <a:p>
            <a:r>
              <a:rPr lang="en-US" dirty="0"/>
              <a:t>What are my most popular pages?</a:t>
            </a:r>
          </a:p>
        </p:txBody>
      </p:sp>
    </p:spTree>
    <p:extLst>
      <p:ext uri="{BB962C8B-B14F-4D97-AF65-F5344CB8AC3E}">
        <p14:creationId xmlns:p14="http://schemas.microsoft.com/office/powerpoint/2010/main" val="47275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CE7F9-2656-643E-AC36-C26F213665F7}"/>
              </a:ext>
            </a:extLst>
          </p:cNvPr>
          <p:cNvSpPr>
            <a:spLocks noGrp="1"/>
          </p:cNvSpPr>
          <p:nvPr>
            <p:ph type="title"/>
          </p:nvPr>
        </p:nvSpPr>
        <p:spPr>
          <a:xfrm>
            <a:off x="838200" y="26079"/>
            <a:ext cx="10515600" cy="1325563"/>
          </a:xfrm>
        </p:spPr>
        <p:txBody>
          <a:bodyPr/>
          <a:lstStyle/>
          <a:p>
            <a:r>
              <a:rPr lang="en-US" dirty="0"/>
              <a:t>Where are my visitors coming from?</a:t>
            </a:r>
          </a:p>
        </p:txBody>
      </p:sp>
      <p:pic>
        <p:nvPicPr>
          <p:cNvPr id="13" name="Picture 12" descr="Screenshot of an analytics dashboard displaying demographic details for various cities, focusing on user engagement metrics such as active users, new users, engaged sessions, and average engagement time. The table uses blue and gray highlights to differentiate sections, with key data points like total users and engagement percentages shown for cities including Iowa City, Boston, and New York.">
            <a:extLst>
              <a:ext uri="{FF2B5EF4-FFF2-40B4-BE49-F238E27FC236}">
                <a16:creationId xmlns:a16="http://schemas.microsoft.com/office/drawing/2014/main" id="{3E7ECFDD-DE20-5649-E469-D90F734C70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216" y="1606183"/>
            <a:ext cx="11621568" cy="4940391"/>
          </a:xfrm>
          <a:prstGeom prst="rect">
            <a:avLst/>
          </a:prstGeom>
          <a:ln>
            <a:solidFill>
              <a:schemeClr val="accent1"/>
            </a:solidFill>
          </a:ln>
        </p:spPr>
      </p:pic>
      <p:sp>
        <p:nvSpPr>
          <p:cNvPr id="14" name="Rounded Rectangle 13">
            <a:extLst>
              <a:ext uri="{FF2B5EF4-FFF2-40B4-BE49-F238E27FC236}">
                <a16:creationId xmlns:a16="http://schemas.microsoft.com/office/drawing/2014/main" id="{141AE08B-CF53-0D29-5DCC-3BB23689872E}"/>
              </a:ext>
              <a:ext uri="{C183D7F6-B498-43B3-948B-1728B52AA6E4}">
                <adec:decorative xmlns:adec="http://schemas.microsoft.com/office/drawing/2017/decorative" val="1"/>
              </a:ext>
            </a:extLst>
          </p:cNvPr>
          <p:cNvSpPr/>
          <p:nvPr/>
        </p:nvSpPr>
        <p:spPr>
          <a:xfrm>
            <a:off x="2823733" y="4203663"/>
            <a:ext cx="966389" cy="2250146"/>
          </a:xfrm>
          <a:prstGeom prst="roundRect">
            <a:avLst/>
          </a:prstGeom>
          <a:noFill/>
          <a:ln w="25400">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2298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Screenshot of a web analytics dashboard showing traffic acquisition data for sessions by medium over a 28-day period from April 8 to May 5, 2023. The table lists session sources such as direct, Facebook, and a specific portal, with metrics including sessions, engagement rate, average engagement time, events per session, and key events, highlighting Facebook as the top referral source with the highest sessions and engagement.">
            <a:extLst>
              <a:ext uri="{FF2B5EF4-FFF2-40B4-BE49-F238E27FC236}">
                <a16:creationId xmlns:a16="http://schemas.microsoft.com/office/drawing/2014/main" id="{23F99DE0-A52A-F721-05E1-7B0E29BF34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909" y="1657711"/>
            <a:ext cx="11727505" cy="4749205"/>
          </a:xfrm>
          <a:prstGeom prst="rect">
            <a:avLst/>
          </a:prstGeom>
          <a:ln>
            <a:solidFill>
              <a:schemeClr val="accent1"/>
            </a:solidFill>
          </a:ln>
        </p:spPr>
      </p:pic>
      <p:sp>
        <p:nvSpPr>
          <p:cNvPr id="2" name="Title 1">
            <a:extLst>
              <a:ext uri="{FF2B5EF4-FFF2-40B4-BE49-F238E27FC236}">
                <a16:creationId xmlns:a16="http://schemas.microsoft.com/office/drawing/2014/main" id="{86605B1C-5FC4-5A93-16F1-29056E40CB84}"/>
              </a:ext>
            </a:extLst>
          </p:cNvPr>
          <p:cNvSpPr>
            <a:spLocks noGrp="1"/>
          </p:cNvSpPr>
          <p:nvPr>
            <p:ph type="title"/>
          </p:nvPr>
        </p:nvSpPr>
        <p:spPr>
          <a:xfrm>
            <a:off x="218584" y="75235"/>
            <a:ext cx="11754830" cy="1325563"/>
          </a:xfrm>
        </p:spPr>
        <p:txBody>
          <a:bodyPr/>
          <a:lstStyle/>
          <a:p>
            <a:r>
              <a:rPr lang="en-US" dirty="0">
                <a:ea typeface="Calibri Light"/>
                <a:cs typeface="Calibri Light"/>
              </a:rPr>
              <a:t>Did my Google Analytics campaign generate traffic?</a:t>
            </a:r>
            <a:endParaRPr lang="en-US" dirty="0"/>
          </a:p>
        </p:txBody>
      </p:sp>
      <p:sp>
        <p:nvSpPr>
          <p:cNvPr id="11" name="Rounded Rectangle 10">
            <a:extLst>
              <a:ext uri="{FF2B5EF4-FFF2-40B4-BE49-F238E27FC236}">
                <a16:creationId xmlns:a16="http://schemas.microsoft.com/office/drawing/2014/main" id="{7DB63147-03CE-8A57-A13F-1A638AD0D191}"/>
              </a:ext>
              <a:ext uri="{C183D7F6-B498-43B3-948B-1728B52AA6E4}">
                <adec:decorative xmlns:adec="http://schemas.microsoft.com/office/drawing/2017/decorative" val="1"/>
              </a:ext>
            </a:extLst>
          </p:cNvPr>
          <p:cNvSpPr/>
          <p:nvPr/>
        </p:nvSpPr>
        <p:spPr>
          <a:xfrm>
            <a:off x="2558689" y="4571999"/>
            <a:ext cx="1880789" cy="1834917"/>
          </a:xfrm>
          <a:prstGeom prst="roundRect">
            <a:avLst/>
          </a:prstGeom>
          <a:noFill/>
          <a:ln w="25400">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9725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8DCA1-94B3-3C6B-9223-4B9795816D97}"/>
              </a:ext>
            </a:extLst>
          </p:cNvPr>
          <p:cNvSpPr>
            <a:spLocks noGrp="1"/>
          </p:cNvSpPr>
          <p:nvPr>
            <p:ph type="title"/>
          </p:nvPr>
        </p:nvSpPr>
        <p:spPr>
          <a:xfrm>
            <a:off x="419099" y="297091"/>
            <a:ext cx="11353800" cy="1325563"/>
          </a:xfrm>
        </p:spPr>
        <p:txBody>
          <a:bodyPr/>
          <a:lstStyle/>
          <a:p>
            <a:r>
              <a:rPr lang="en-US" dirty="0"/>
              <a:t>How much time are users spending on my pages?</a:t>
            </a:r>
          </a:p>
        </p:txBody>
      </p:sp>
      <p:pic>
        <p:nvPicPr>
          <p:cNvPr id="5" name="Content Placeholder 4" descr="Screenshot of a user acquisition report from a business analytics dashboard showing first user source and medium data for April 6 to May 3, 2023. The table lists six sources including Facebook, direct, Twitter, GitHub, and Google, with metrics such as new users, engaged sessions, engagement rate, and average engagement time, highlighting Facebook post as the top source with 87 new users and a 69.07% engagement rate.">
            <a:extLst>
              <a:ext uri="{FF2B5EF4-FFF2-40B4-BE49-F238E27FC236}">
                <a16:creationId xmlns:a16="http://schemas.microsoft.com/office/drawing/2014/main" id="{D666211A-58BA-F498-4C06-1E58779F51A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8115" y="1930174"/>
            <a:ext cx="10875769" cy="4927826"/>
          </a:xfrm>
        </p:spPr>
      </p:pic>
      <p:sp>
        <p:nvSpPr>
          <p:cNvPr id="6" name="Rounded Rectangle 5">
            <a:extLst>
              <a:ext uri="{FF2B5EF4-FFF2-40B4-BE49-F238E27FC236}">
                <a16:creationId xmlns:a16="http://schemas.microsoft.com/office/drawing/2014/main" id="{480F56F3-EEE2-9924-A01F-083345A78AD0}"/>
              </a:ext>
              <a:ext uri="{C183D7F6-B498-43B3-948B-1728B52AA6E4}">
                <adec:decorative xmlns:adec="http://schemas.microsoft.com/office/drawing/2017/decorative" val="1"/>
              </a:ext>
            </a:extLst>
          </p:cNvPr>
          <p:cNvSpPr/>
          <p:nvPr/>
        </p:nvSpPr>
        <p:spPr>
          <a:xfrm>
            <a:off x="4038879" y="3309258"/>
            <a:ext cx="1946030" cy="480646"/>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8C16B1E1-ED90-1FC8-8081-8B9761932495}"/>
              </a:ext>
              <a:ext uri="{C183D7F6-B498-43B3-948B-1728B52AA6E4}">
                <adec:decorative xmlns:adec="http://schemas.microsoft.com/office/drawing/2017/decorative" val="1"/>
              </a:ext>
            </a:extLst>
          </p:cNvPr>
          <p:cNvSpPr/>
          <p:nvPr/>
        </p:nvSpPr>
        <p:spPr>
          <a:xfrm>
            <a:off x="1172307" y="3980431"/>
            <a:ext cx="1946030" cy="480646"/>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DB643E79-DD4D-FDCC-9D52-574932EE7B4C}"/>
              </a:ext>
              <a:ext uri="{C183D7F6-B498-43B3-948B-1728B52AA6E4}">
                <adec:decorative xmlns:adec="http://schemas.microsoft.com/office/drawing/2017/decorative" val="1"/>
              </a:ext>
            </a:extLst>
          </p:cNvPr>
          <p:cNvSpPr/>
          <p:nvPr/>
        </p:nvSpPr>
        <p:spPr>
          <a:xfrm>
            <a:off x="3896581" y="4464601"/>
            <a:ext cx="2157046" cy="2096308"/>
          </a:xfrm>
          <a:prstGeom prst="roundRect">
            <a:avLst/>
          </a:prstGeom>
          <a:noFill/>
          <a:ln w="25400">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a:extLst>
              <a:ext uri="{FF2B5EF4-FFF2-40B4-BE49-F238E27FC236}">
                <a16:creationId xmlns:a16="http://schemas.microsoft.com/office/drawing/2014/main" id="{B37D9F34-F81C-D026-AEDF-B568D3D39DD7}"/>
              </a:ext>
              <a:ext uri="{C183D7F6-B498-43B3-948B-1728B52AA6E4}">
                <adec:decorative xmlns:adec="http://schemas.microsoft.com/office/drawing/2017/decorative" val="1"/>
              </a:ext>
            </a:extLst>
          </p:cNvPr>
          <p:cNvSpPr/>
          <p:nvPr/>
        </p:nvSpPr>
        <p:spPr>
          <a:xfrm rot="20278100">
            <a:off x="10913305" y="2690022"/>
            <a:ext cx="880990" cy="1148862"/>
          </a:xfrm>
          <a:custGeom>
            <a:avLst/>
            <a:gdLst>
              <a:gd name="connsiteX0" fmla="*/ 867508 w 880990"/>
              <a:gd name="connsiteY0" fmla="*/ 0 h 1148862"/>
              <a:gd name="connsiteX1" fmla="*/ 762000 w 880990"/>
              <a:gd name="connsiteY1" fmla="*/ 785446 h 1148862"/>
              <a:gd name="connsiteX2" fmla="*/ 0 w 880990"/>
              <a:gd name="connsiteY2" fmla="*/ 1148862 h 1148862"/>
            </a:gdLst>
            <a:ahLst/>
            <a:cxnLst>
              <a:cxn ang="0">
                <a:pos x="connsiteX0" y="connsiteY0"/>
              </a:cxn>
              <a:cxn ang="0">
                <a:pos x="connsiteX1" y="connsiteY1"/>
              </a:cxn>
              <a:cxn ang="0">
                <a:pos x="connsiteX2" y="connsiteY2"/>
              </a:cxn>
            </a:cxnLst>
            <a:rect l="l" t="t" r="r" b="b"/>
            <a:pathLst>
              <a:path w="880990" h="1148862">
                <a:moveTo>
                  <a:pt x="867508" y="0"/>
                </a:moveTo>
                <a:cubicBezTo>
                  <a:pt x="887046" y="296984"/>
                  <a:pt x="906585" y="593969"/>
                  <a:pt x="762000" y="785446"/>
                </a:cubicBezTo>
                <a:cubicBezTo>
                  <a:pt x="617415" y="976923"/>
                  <a:pt x="308707" y="1062892"/>
                  <a:pt x="0" y="1148862"/>
                </a:cubicBezTo>
              </a:path>
            </a:pathLst>
          </a:custGeom>
          <a:noFill/>
          <a:ln w="38100">
            <a:solidFill>
              <a:srgbClr val="00B0F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FDCD7AF8-FF49-FB90-ED54-15EBCFA54FCC}"/>
              </a:ext>
              <a:ext uri="{C183D7F6-B498-43B3-948B-1728B52AA6E4}">
                <adec:decorative xmlns:adec="http://schemas.microsoft.com/office/drawing/2017/decorative" val="1"/>
              </a:ext>
            </a:extLst>
          </p:cNvPr>
          <p:cNvSpPr/>
          <p:nvPr/>
        </p:nvSpPr>
        <p:spPr>
          <a:xfrm>
            <a:off x="1845043" y="1771987"/>
            <a:ext cx="2157046" cy="819510"/>
          </a:xfrm>
          <a:prstGeom prst="roundRect">
            <a:avLst/>
          </a:prstGeom>
          <a:noFill/>
          <a:ln w="25400">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6CFBAB3C-318A-0A65-5755-E6E5CD03DCD5}"/>
              </a:ext>
              <a:ext uri="{C183D7F6-B498-43B3-948B-1728B52AA6E4}">
                <adec:decorative xmlns:adec="http://schemas.microsoft.com/office/drawing/2017/decorative" val="1"/>
              </a:ext>
            </a:extLst>
          </p:cNvPr>
          <p:cNvSpPr/>
          <p:nvPr/>
        </p:nvSpPr>
        <p:spPr>
          <a:xfrm>
            <a:off x="10201519" y="3962176"/>
            <a:ext cx="1247619" cy="2595209"/>
          </a:xfrm>
          <a:prstGeom prst="roundRect">
            <a:avLst/>
          </a:prstGeom>
          <a:noFill/>
          <a:ln w="25400">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87251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78</TotalTime>
  <Words>241</Words>
  <Application>Microsoft Macintosh PowerPoint</Application>
  <PresentationFormat>Widescreen</PresentationFormat>
  <Paragraphs>26</Paragraphs>
  <Slides>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Wingdings</vt:lpstr>
      <vt:lpstr>office theme</vt:lpstr>
      <vt:lpstr>Google Analytics report</vt:lpstr>
      <vt:lpstr>Summary</vt:lpstr>
      <vt:lpstr>How many new visitors came to my site?</vt:lpstr>
      <vt:lpstr>How many of my visitors returned to my site?</vt:lpstr>
      <vt:lpstr>What are my most popular pages?</vt:lpstr>
      <vt:lpstr>Where are my visitors coming from?</vt:lpstr>
      <vt:lpstr>Did my Google Analytics campaign generate traffic?</vt:lpstr>
      <vt:lpstr>How much time are users spending on my pages?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Mike Colbert</cp:lastModifiedBy>
  <cp:revision>22</cp:revision>
  <dcterms:created xsi:type="dcterms:W3CDTF">2023-05-04T13:30:21Z</dcterms:created>
  <dcterms:modified xsi:type="dcterms:W3CDTF">2026-04-29T00:56:43Z</dcterms:modified>
</cp:coreProperties>
</file>